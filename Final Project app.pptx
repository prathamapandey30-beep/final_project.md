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3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D52789-4EB5-4948-BEDC-300CEE1D7EB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0016F9E7-3969-4546-B0FE-CC035D5AF7EE}">
      <dgm:prSet/>
      <dgm:spPr/>
      <dgm:t>
        <a:bodyPr/>
        <a:lstStyle/>
        <a:p>
          <a:r>
            <a:rPr lang="en-US"/>
            <a:t>A mobile-first solution designed to bridge the gap between 'guilt' and 'action’.</a:t>
          </a:r>
        </a:p>
      </dgm:t>
    </dgm:pt>
    <dgm:pt modelId="{1B20CF20-A62C-4ADE-A48C-6CDABF2A1B01}" type="parTrans" cxnId="{7BD9BF8A-5CB6-418D-A999-F2184FC0B1C9}">
      <dgm:prSet/>
      <dgm:spPr/>
      <dgm:t>
        <a:bodyPr/>
        <a:lstStyle/>
        <a:p>
          <a:endParaRPr lang="en-US"/>
        </a:p>
      </dgm:t>
    </dgm:pt>
    <dgm:pt modelId="{142CB9E6-A23E-4641-B90D-7D978C9B7005}" type="sibTrans" cxnId="{7BD9BF8A-5CB6-418D-A999-F2184FC0B1C9}">
      <dgm:prSet/>
      <dgm:spPr/>
      <dgm:t>
        <a:bodyPr/>
        <a:lstStyle/>
        <a:p>
          <a:endParaRPr lang="en-US"/>
        </a:p>
      </dgm:t>
    </dgm:pt>
    <dgm:pt modelId="{F267A2AF-4FBC-414D-B2A2-C45EB7C3E7DE}">
      <dgm:prSet/>
      <dgm:spPr/>
      <dgm:t>
        <a:bodyPr/>
        <a:lstStyle/>
        <a:p>
          <a:r>
            <a:rPr lang="en-US"/>
            <a:t>By replacing manual data entry with AI-powered scanning, we make sustainable living as easy as taking a photo.</a:t>
          </a:r>
        </a:p>
      </dgm:t>
    </dgm:pt>
    <dgm:pt modelId="{2BB6D7C0-DF02-41FC-8DAD-5B87788AF7EE}" type="parTrans" cxnId="{B2D501F9-82B6-4D65-9362-E25950E20208}">
      <dgm:prSet/>
      <dgm:spPr/>
      <dgm:t>
        <a:bodyPr/>
        <a:lstStyle/>
        <a:p>
          <a:endParaRPr lang="en-US"/>
        </a:p>
      </dgm:t>
    </dgm:pt>
    <dgm:pt modelId="{487FE614-C822-42C6-ACD4-C12F836DA823}" type="sibTrans" cxnId="{B2D501F9-82B6-4D65-9362-E25950E20208}">
      <dgm:prSet/>
      <dgm:spPr/>
      <dgm:t>
        <a:bodyPr/>
        <a:lstStyle/>
        <a:p>
          <a:endParaRPr lang="en-US"/>
        </a:p>
      </dgm:t>
    </dgm:pt>
    <dgm:pt modelId="{01F7D483-AFA6-4CB7-944E-1600EB00F8C4}" type="pres">
      <dgm:prSet presAssocID="{27D52789-4EB5-4948-BEDC-300CEE1D7EBD}" presName="root" presStyleCnt="0">
        <dgm:presLayoutVars>
          <dgm:dir/>
          <dgm:resizeHandles val="exact"/>
        </dgm:presLayoutVars>
      </dgm:prSet>
      <dgm:spPr/>
    </dgm:pt>
    <dgm:pt modelId="{57EFF3FA-3B3A-4DBD-BD62-FBB2B0D9F5AF}" type="pres">
      <dgm:prSet presAssocID="{0016F9E7-3969-4546-B0FE-CC035D5AF7EE}" presName="compNode" presStyleCnt="0"/>
      <dgm:spPr/>
    </dgm:pt>
    <dgm:pt modelId="{2A6E4411-1CB4-48C6-92BC-30EE8D94D95C}" type="pres">
      <dgm:prSet presAssocID="{0016F9E7-3969-4546-B0FE-CC035D5AF7EE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763F565D-FCFC-460E-B6B4-296F919E4215}" type="pres">
      <dgm:prSet presAssocID="{0016F9E7-3969-4546-B0FE-CC035D5AF7EE}" presName="spaceRect" presStyleCnt="0"/>
      <dgm:spPr/>
    </dgm:pt>
    <dgm:pt modelId="{E1A93BA4-C5BF-4246-91AA-C2488B7A92DD}" type="pres">
      <dgm:prSet presAssocID="{0016F9E7-3969-4546-B0FE-CC035D5AF7EE}" presName="textRect" presStyleLbl="revTx" presStyleIdx="0" presStyleCnt="2">
        <dgm:presLayoutVars>
          <dgm:chMax val="1"/>
          <dgm:chPref val="1"/>
        </dgm:presLayoutVars>
      </dgm:prSet>
      <dgm:spPr/>
    </dgm:pt>
    <dgm:pt modelId="{3FA64A0A-15D9-43E5-9680-68F24AB23BB1}" type="pres">
      <dgm:prSet presAssocID="{142CB9E6-A23E-4641-B90D-7D978C9B7005}" presName="sibTrans" presStyleCnt="0"/>
      <dgm:spPr/>
    </dgm:pt>
    <dgm:pt modelId="{48B0C684-1192-4D36-A93C-D4160D454C35}" type="pres">
      <dgm:prSet presAssocID="{F267A2AF-4FBC-414D-B2A2-C45EB7C3E7DE}" presName="compNode" presStyleCnt="0"/>
      <dgm:spPr/>
    </dgm:pt>
    <dgm:pt modelId="{86C702EB-BB69-4EEC-AAC5-AF2AE0848DF7}" type="pres">
      <dgm:prSet presAssocID="{F267A2AF-4FBC-414D-B2A2-C45EB7C3E7D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BABC8D4-B6EB-4961-848E-99B588B9FD76}" type="pres">
      <dgm:prSet presAssocID="{F267A2AF-4FBC-414D-B2A2-C45EB7C3E7DE}" presName="spaceRect" presStyleCnt="0"/>
      <dgm:spPr/>
    </dgm:pt>
    <dgm:pt modelId="{56825425-021F-41BD-B0D0-7057D98C118D}" type="pres">
      <dgm:prSet presAssocID="{F267A2AF-4FBC-414D-B2A2-C45EB7C3E7D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FCD2A09-94C8-4327-9E61-D12EB1475D34}" type="presOf" srcId="{0016F9E7-3969-4546-B0FE-CC035D5AF7EE}" destId="{E1A93BA4-C5BF-4246-91AA-C2488B7A92DD}" srcOrd="0" destOrd="0" presId="urn:microsoft.com/office/officeart/2018/2/layout/IconLabelList"/>
    <dgm:cxn modelId="{9AB12019-489F-44FB-8D1A-C63C219133FE}" type="presOf" srcId="{F267A2AF-4FBC-414D-B2A2-C45EB7C3E7DE}" destId="{56825425-021F-41BD-B0D0-7057D98C118D}" srcOrd="0" destOrd="0" presId="urn:microsoft.com/office/officeart/2018/2/layout/IconLabelList"/>
    <dgm:cxn modelId="{44537D76-10ED-4593-AB4F-AA0E57D697EF}" type="presOf" srcId="{27D52789-4EB5-4948-BEDC-300CEE1D7EBD}" destId="{01F7D483-AFA6-4CB7-944E-1600EB00F8C4}" srcOrd="0" destOrd="0" presId="urn:microsoft.com/office/officeart/2018/2/layout/IconLabelList"/>
    <dgm:cxn modelId="{7BD9BF8A-5CB6-418D-A999-F2184FC0B1C9}" srcId="{27D52789-4EB5-4948-BEDC-300CEE1D7EBD}" destId="{0016F9E7-3969-4546-B0FE-CC035D5AF7EE}" srcOrd="0" destOrd="0" parTransId="{1B20CF20-A62C-4ADE-A48C-6CDABF2A1B01}" sibTransId="{142CB9E6-A23E-4641-B90D-7D978C9B7005}"/>
    <dgm:cxn modelId="{B2D501F9-82B6-4D65-9362-E25950E20208}" srcId="{27D52789-4EB5-4948-BEDC-300CEE1D7EBD}" destId="{F267A2AF-4FBC-414D-B2A2-C45EB7C3E7DE}" srcOrd="1" destOrd="0" parTransId="{2BB6D7C0-DF02-41FC-8DAD-5B87788AF7EE}" sibTransId="{487FE614-C822-42C6-ACD4-C12F836DA823}"/>
    <dgm:cxn modelId="{B93FE461-F366-48BF-9A2B-1D2FC266C5C3}" type="presParOf" srcId="{01F7D483-AFA6-4CB7-944E-1600EB00F8C4}" destId="{57EFF3FA-3B3A-4DBD-BD62-FBB2B0D9F5AF}" srcOrd="0" destOrd="0" presId="urn:microsoft.com/office/officeart/2018/2/layout/IconLabelList"/>
    <dgm:cxn modelId="{5D96AFD5-353B-485D-9075-ED167515DA84}" type="presParOf" srcId="{57EFF3FA-3B3A-4DBD-BD62-FBB2B0D9F5AF}" destId="{2A6E4411-1CB4-48C6-92BC-30EE8D94D95C}" srcOrd="0" destOrd="0" presId="urn:microsoft.com/office/officeart/2018/2/layout/IconLabelList"/>
    <dgm:cxn modelId="{589A996E-A06E-42DA-9472-60BE4D0D225A}" type="presParOf" srcId="{57EFF3FA-3B3A-4DBD-BD62-FBB2B0D9F5AF}" destId="{763F565D-FCFC-460E-B6B4-296F919E4215}" srcOrd="1" destOrd="0" presId="urn:microsoft.com/office/officeart/2018/2/layout/IconLabelList"/>
    <dgm:cxn modelId="{56A6AD90-FD9B-487A-A4C6-A861146C3E1B}" type="presParOf" srcId="{57EFF3FA-3B3A-4DBD-BD62-FBB2B0D9F5AF}" destId="{E1A93BA4-C5BF-4246-91AA-C2488B7A92DD}" srcOrd="2" destOrd="0" presId="urn:microsoft.com/office/officeart/2018/2/layout/IconLabelList"/>
    <dgm:cxn modelId="{B80161D7-E990-4D54-955B-CCBC6136BEC7}" type="presParOf" srcId="{01F7D483-AFA6-4CB7-944E-1600EB00F8C4}" destId="{3FA64A0A-15D9-43E5-9680-68F24AB23BB1}" srcOrd="1" destOrd="0" presId="urn:microsoft.com/office/officeart/2018/2/layout/IconLabelList"/>
    <dgm:cxn modelId="{8E69B3F5-F664-45BA-A0A6-4FB40621798B}" type="presParOf" srcId="{01F7D483-AFA6-4CB7-944E-1600EB00F8C4}" destId="{48B0C684-1192-4D36-A93C-D4160D454C35}" srcOrd="2" destOrd="0" presId="urn:microsoft.com/office/officeart/2018/2/layout/IconLabelList"/>
    <dgm:cxn modelId="{F18DC3F9-CE3C-42B9-B47D-A056922EF753}" type="presParOf" srcId="{48B0C684-1192-4D36-A93C-D4160D454C35}" destId="{86C702EB-BB69-4EEC-AAC5-AF2AE0848DF7}" srcOrd="0" destOrd="0" presId="urn:microsoft.com/office/officeart/2018/2/layout/IconLabelList"/>
    <dgm:cxn modelId="{272FB6FC-591C-4B9A-9157-851AF039DEE0}" type="presParOf" srcId="{48B0C684-1192-4D36-A93C-D4160D454C35}" destId="{ABABC8D4-B6EB-4961-848E-99B588B9FD76}" srcOrd="1" destOrd="0" presId="urn:microsoft.com/office/officeart/2018/2/layout/IconLabelList"/>
    <dgm:cxn modelId="{43A1FA68-CDBA-434C-B679-B9FCF5CD7569}" type="presParOf" srcId="{48B0C684-1192-4D36-A93C-D4160D454C35}" destId="{56825425-021F-41BD-B0D0-7057D98C118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6E4411-1CB4-48C6-92BC-30EE8D94D95C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93BA4-C5BF-4246-91AA-C2488B7A92DD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mobile-first solution designed to bridge the gap between 'guilt' and 'action’.</a:t>
          </a:r>
        </a:p>
      </dsp:txBody>
      <dsp:txXfrm>
        <a:off x="85060" y="2776702"/>
        <a:ext cx="3690000" cy="720000"/>
      </dsp:txXfrm>
    </dsp:sp>
    <dsp:sp modelId="{86C702EB-BB69-4EEC-AAC5-AF2AE0848DF7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825425-021F-41BD-B0D0-7057D98C118D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By replacing manual data entry with AI-powered scanning, we make sustainable living as easy as taking a photo.</a:t>
          </a:r>
        </a:p>
      </dsp:txBody>
      <dsp:txXfrm>
        <a:off x="4420810" y="2776702"/>
        <a:ext cx="369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4438ED-81C9-B9E4-3A7B-3B1BF1DF1BD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16941" r="10393" b="1"/>
          <a:stretch>
            <a:fillRect/>
          </a:stretch>
        </p:blipFill>
        <p:spPr>
          <a:xfrm>
            <a:off x="-2286" y="57714"/>
            <a:ext cx="9143980" cy="685799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21941" y="961357"/>
            <a:ext cx="6249879" cy="40720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0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3913" y="360711"/>
            <a:ext cx="3878146" cy="2636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4800" dirty="0">
                <a:solidFill>
                  <a:srgbClr val="FFFF00"/>
                </a:solidFill>
                <a:highlight>
                  <a:srgbClr val="C0C0C0"/>
                </a:highlight>
              </a:rPr>
              <a:t>GREENPLATE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endParaRPr lang="en-US" sz="1700" b="1" dirty="0">
              <a:solidFill>
                <a:srgbClr val="FFFFFF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endParaRPr lang="en-US" sz="1700" b="1" dirty="0">
              <a:solidFill>
                <a:srgbClr val="FFFFFF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endParaRPr lang="en-US" sz="1700" b="1" dirty="0">
              <a:solidFill>
                <a:srgbClr val="FFFFFF"/>
              </a:solidFill>
            </a:endParaRPr>
          </a:p>
          <a:p>
            <a:pPr algn="ctr" defTabSz="914400">
              <a:lnSpc>
                <a:spcPct val="90000"/>
              </a:lnSpc>
              <a:spcAft>
                <a:spcPts val="600"/>
              </a:spcAft>
              <a:defRPr sz="2200"/>
            </a:pPr>
            <a:r>
              <a:rPr lang="en-US" sz="2000" b="1" dirty="0">
                <a:solidFill>
                  <a:schemeClr val="bg1"/>
                </a:solidFill>
                <a:highlight>
                  <a:srgbClr val="000000"/>
                </a:highlight>
              </a:rPr>
              <a:t>The Intelligent Pantry Assistant</a:t>
            </a:r>
            <a:br>
              <a:rPr lang="en-US" sz="2000" b="1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sz="2000" b="1" dirty="0">
                <a:solidFill>
                  <a:schemeClr val="bg1"/>
                </a:solidFill>
                <a:highlight>
                  <a:srgbClr val="000000"/>
                </a:highlight>
              </a:rPr>
              <a:t>Scan. Track. Cook. Save.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28697" y="348865"/>
            <a:ext cx="7533018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2E7D32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Concept 💡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31FD6A78-E32B-B5BD-6C17-4EDEEF5327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5314571"/>
              </p:ext>
            </p:extLst>
          </p:nvPr>
        </p:nvGraphicFramePr>
        <p:xfrm>
          <a:off x="252223" y="1332597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296" y="553334"/>
            <a:ext cx="3985902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2E7D32"/>
                </a:solidFill>
              </a:defRPr>
            </a:pP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0438" y="2044467"/>
            <a:ext cx="3985907" cy="28814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5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200" b="1"/>
            </a:pPr>
            <a:r>
              <a:rPr lang="en-US" sz="2200" dirty="0"/>
              <a:t>Invisible Waste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600"/>
            </a:pPr>
            <a:r>
              <a:rPr lang="en-US" sz="1600" dirty="0"/>
              <a:t>Items forgotten at the back of shelves.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F62D2A7-8207-488C-9F46-316BA81A1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19600" y="0"/>
            <a:ext cx="4724400" cy="4919011"/>
          </a:xfrm>
          <a:custGeom>
            <a:avLst/>
            <a:gdLst>
              <a:gd name="connsiteX0" fmla="*/ 0 w 5609220"/>
              <a:gd name="connsiteY0" fmla="*/ 0 h 5840278"/>
              <a:gd name="connsiteX1" fmla="*/ 4637091 w 5609220"/>
              <a:gd name="connsiteY1" fmla="*/ 0 h 5840278"/>
              <a:gd name="connsiteX2" fmla="*/ 4822569 w 5609220"/>
              <a:gd name="connsiteY2" fmla="*/ 204077 h 5840278"/>
              <a:gd name="connsiteX3" fmla="*/ 5609220 w 5609220"/>
              <a:gd name="connsiteY3" fmla="*/ 2395363 h 5840278"/>
              <a:gd name="connsiteX4" fmla="*/ 2164305 w 5609220"/>
              <a:gd name="connsiteY4" fmla="*/ 5840278 h 5840278"/>
              <a:gd name="connsiteX5" fmla="*/ 238220 w 5609220"/>
              <a:gd name="connsiteY5" fmla="*/ 5251941 h 5840278"/>
              <a:gd name="connsiteX6" fmla="*/ 0 w 5609220"/>
              <a:gd name="connsiteY6" fmla="*/ 5073803 h 584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9220" h="5840278">
                <a:moveTo>
                  <a:pt x="0" y="0"/>
                </a:moveTo>
                <a:lnTo>
                  <a:pt x="4637091" y="0"/>
                </a:lnTo>
                <a:lnTo>
                  <a:pt x="4822569" y="204077"/>
                </a:lnTo>
                <a:cubicBezTo>
                  <a:pt x="5314007" y="799562"/>
                  <a:pt x="5609220" y="1562987"/>
                  <a:pt x="5609220" y="2395363"/>
                </a:cubicBezTo>
                <a:cubicBezTo>
                  <a:pt x="5609220" y="4297937"/>
                  <a:pt x="4066879" y="5840278"/>
                  <a:pt x="2164305" y="5840278"/>
                </a:cubicBezTo>
                <a:cubicBezTo>
                  <a:pt x="1450840" y="5840278"/>
                  <a:pt x="788032" y="5623387"/>
                  <a:pt x="238220" y="5251941"/>
                </a:cubicBezTo>
                <a:lnTo>
                  <a:pt x="0" y="5073803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2AC6D7F-F068-4E11-BB06-F601D89BB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561" y="1505"/>
            <a:ext cx="4583439" cy="4762908"/>
          </a:xfrm>
          <a:custGeom>
            <a:avLst/>
            <a:gdLst>
              <a:gd name="connsiteX0" fmla="*/ 1041368 w 5441859"/>
              <a:gd name="connsiteY0" fmla="*/ 0 h 5654940"/>
              <a:gd name="connsiteX1" fmla="*/ 5441859 w 5441859"/>
              <a:gd name="connsiteY1" fmla="*/ 0 h 5654940"/>
              <a:gd name="connsiteX2" fmla="*/ 5441859 w 5441859"/>
              <a:gd name="connsiteY2" fmla="*/ 4820612 h 5654940"/>
              <a:gd name="connsiteX3" fmla="*/ 5285166 w 5441859"/>
              <a:gd name="connsiteY3" fmla="*/ 4957981 h 5654940"/>
              <a:gd name="connsiteX4" fmla="*/ 3267719 w 5441859"/>
              <a:gd name="connsiteY4" fmla="*/ 5654940 h 5654940"/>
              <a:gd name="connsiteX5" fmla="*/ 0 w 5441859"/>
              <a:gd name="connsiteY5" fmla="*/ 2387221 h 5654940"/>
              <a:gd name="connsiteX6" fmla="*/ 957093 w 5441859"/>
              <a:gd name="connsiteY6" fmla="*/ 76595 h 5654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41859" h="5654940">
                <a:moveTo>
                  <a:pt x="1041368" y="0"/>
                </a:moveTo>
                <a:lnTo>
                  <a:pt x="5441859" y="0"/>
                </a:lnTo>
                <a:lnTo>
                  <a:pt x="5441859" y="4820612"/>
                </a:lnTo>
                <a:lnTo>
                  <a:pt x="5285166" y="4957981"/>
                </a:lnTo>
                <a:cubicBezTo>
                  <a:pt x="4729628" y="5394557"/>
                  <a:pt x="4029081" y="5654940"/>
                  <a:pt x="3267719" y="5654940"/>
                </a:cubicBezTo>
                <a:cubicBezTo>
                  <a:pt x="1463008" y="5654940"/>
                  <a:pt x="0" y="4191932"/>
                  <a:pt x="0" y="2387221"/>
                </a:cubicBezTo>
                <a:cubicBezTo>
                  <a:pt x="0" y="1484866"/>
                  <a:pt x="365752" y="667936"/>
                  <a:pt x="957093" y="7659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0" name="Graphic 9" descr="Warning">
            <a:extLst>
              <a:ext uri="{FF2B5EF4-FFF2-40B4-BE49-F238E27FC236}">
                <a16:creationId xmlns:a16="http://schemas.microsoft.com/office/drawing/2014/main" id="{9DB42F70-71AE-791A-1201-B4FFE7C173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2767" y="485518"/>
            <a:ext cx="3197870" cy="31978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0438" y="3888253"/>
            <a:ext cx="3770712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  <a:defRPr sz="2200" b="1"/>
            </a:pPr>
            <a:r>
              <a:rPr dirty="0"/>
              <a:t>Expiry Anxiety</a:t>
            </a:r>
            <a:endParaRPr lang="en-US" dirty="0"/>
          </a:p>
          <a:p>
            <a:pPr>
              <a:spcAft>
                <a:spcPts val="600"/>
              </a:spcAft>
              <a:defRPr sz="1600"/>
            </a:pPr>
            <a:r>
              <a:rPr dirty="0"/>
              <a:t>Uncertainty about safe consumption dates.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30438" y="2801263"/>
            <a:ext cx="3475695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  <a:defRPr sz="2200" b="1"/>
            </a:pPr>
            <a:r>
              <a:rPr dirty="0"/>
              <a:t>Entry Fatigue</a:t>
            </a:r>
            <a:endParaRPr lang="en-US" dirty="0"/>
          </a:p>
          <a:p>
            <a:pPr>
              <a:spcAft>
                <a:spcPts val="600"/>
              </a:spcAft>
              <a:defRPr sz="1600"/>
            </a:pPr>
            <a:r>
              <a:rPr dirty="0"/>
              <a:t>Manual tracking is too time-consuming.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274314" y="4925923"/>
            <a:ext cx="3749744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  <a:defRPr sz="2200" b="1"/>
            </a:pPr>
            <a:r>
              <a:rPr dirty="0"/>
              <a:t>Financial Loss</a:t>
            </a:r>
            <a:endParaRPr lang="en-US" dirty="0"/>
          </a:p>
          <a:p>
            <a:pPr>
              <a:spcAft>
                <a:spcPts val="600"/>
              </a:spcAft>
              <a:defRPr sz="1600"/>
            </a:pPr>
            <a:r>
              <a:rPr dirty="0"/>
              <a:t>Average household wastes ~€500 annually.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34916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rPr dirty="0"/>
              <a:t>Enhanced Features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3595" y="872400"/>
            <a:ext cx="389683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 b="1"/>
            </a:pPr>
            <a:r>
              <a:rPr dirty="0"/>
              <a:t>One-Tap OCR</a:t>
            </a:r>
          </a:p>
          <a:p>
            <a:pPr>
              <a:defRPr sz="1600"/>
            </a:pPr>
            <a:r>
              <a:rPr dirty="0"/>
              <a:t>Instant digital inventory from paper receipts.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1396" y="3029342"/>
            <a:ext cx="413260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 b="1"/>
            </a:pPr>
            <a:r>
              <a:rPr lang="en-US" dirty="0"/>
              <a:t> </a:t>
            </a:r>
            <a:r>
              <a:rPr dirty="0"/>
              <a:t>AI Recipe Engine</a:t>
            </a:r>
          </a:p>
          <a:p>
            <a:pPr>
              <a:defRPr sz="1600"/>
            </a:pPr>
            <a:r>
              <a:rPr lang="en-US" dirty="0"/>
              <a:t> </a:t>
            </a:r>
            <a:r>
              <a:rPr dirty="0"/>
              <a:t>Uses expiring items to suggest tonight's dinner.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402" y="1922902"/>
            <a:ext cx="2888227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 b="1"/>
            </a:pPr>
            <a:r>
              <a:rPr lang="en-US" dirty="0"/>
              <a:t> </a:t>
            </a:r>
            <a:r>
              <a:rPr dirty="0"/>
              <a:t>Smart Fridge View</a:t>
            </a:r>
          </a:p>
          <a:p>
            <a:pPr>
              <a:defRPr sz="1600"/>
            </a:pPr>
            <a:r>
              <a:rPr lang="en-US" dirty="0"/>
              <a:t> </a:t>
            </a:r>
            <a:r>
              <a:rPr dirty="0"/>
              <a:t>Visual color-coded expiry alerts.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396" y="4135782"/>
            <a:ext cx="3617465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 b="1"/>
            </a:pPr>
            <a:r>
              <a:rPr lang="en-US" dirty="0"/>
              <a:t> </a:t>
            </a:r>
            <a:r>
              <a:rPr dirty="0"/>
              <a:t>Eco-Impact Score</a:t>
            </a:r>
          </a:p>
          <a:p>
            <a:pPr>
              <a:defRPr sz="1600"/>
            </a:pPr>
            <a:r>
              <a:rPr lang="en-US" dirty="0"/>
              <a:t> </a:t>
            </a:r>
            <a:r>
              <a:rPr dirty="0"/>
              <a:t>Track CO2 and money saved in real-time.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AF8266-C23B-299B-176E-94BD5776C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447" y="976543"/>
            <a:ext cx="4714043" cy="41133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48704" y="3854462"/>
            <a:ext cx="2564242" cy="14121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2E7D32"/>
                </a:solidFill>
              </a:defRPr>
            </a:pPr>
            <a:r>
              <a:rPr lang="en-US" sz="3300" dirty="0">
                <a:latin typeface="+mj-lt"/>
                <a:ea typeface="+mj-ea"/>
                <a:cs typeface="+mj-cs"/>
              </a:rPr>
              <a:t>Modern Tech Stack (Tools)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A9F99C-E9D2-445E-2C95-78DB801177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80"/>
          <a:stretch>
            <a:fillRect/>
          </a:stretch>
        </p:blipFill>
        <p:spPr>
          <a:xfrm>
            <a:off x="20" y="10"/>
            <a:ext cx="9143980" cy="4082879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74529" y="5470492"/>
            <a:ext cx="1371600" cy="13716"/>
          </a:xfrm>
          <a:custGeom>
            <a:avLst/>
            <a:gdLst>
              <a:gd name="csX0" fmla="*/ 0 w 1371600"/>
              <a:gd name="csY0" fmla="*/ 0 h 13716"/>
              <a:gd name="csX1" fmla="*/ 685800 w 1371600"/>
              <a:gd name="csY1" fmla="*/ 0 h 13716"/>
              <a:gd name="csX2" fmla="*/ 1371600 w 1371600"/>
              <a:gd name="csY2" fmla="*/ 0 h 13716"/>
              <a:gd name="csX3" fmla="*/ 1371600 w 1371600"/>
              <a:gd name="csY3" fmla="*/ 13716 h 13716"/>
              <a:gd name="csX4" fmla="*/ 713232 w 1371600"/>
              <a:gd name="csY4" fmla="*/ 13716 h 13716"/>
              <a:gd name="csX5" fmla="*/ 0 w 1371600"/>
              <a:gd name="csY5" fmla="*/ 13716 h 13716"/>
              <a:gd name="csX6" fmla="*/ 0 w 1371600"/>
              <a:gd name="csY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3716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127" y="2892"/>
                  <a:pt x="1371229" y="8681"/>
                  <a:pt x="1371600" y="13716"/>
                </a:cubicBezTo>
                <a:cubicBezTo>
                  <a:pt x="1107995" y="21892"/>
                  <a:pt x="1033361" y="28370"/>
                  <a:pt x="713232" y="13716"/>
                </a:cubicBezTo>
                <a:cubicBezTo>
                  <a:pt x="393103" y="-938"/>
                  <a:pt x="289343" y="38649"/>
                  <a:pt x="0" y="13716"/>
                </a:cubicBezTo>
                <a:cubicBezTo>
                  <a:pt x="227" y="7219"/>
                  <a:pt x="197" y="5990"/>
                  <a:pt x="0" y="0"/>
                </a:cubicBezTo>
                <a:close/>
              </a:path>
              <a:path w="1371600" h="13716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228" y="6235"/>
                  <a:pt x="1371259" y="10206"/>
                  <a:pt x="1371600" y="13716"/>
                </a:cubicBezTo>
                <a:cubicBezTo>
                  <a:pt x="1176823" y="-5981"/>
                  <a:pt x="900830" y="5417"/>
                  <a:pt x="713232" y="13716"/>
                </a:cubicBezTo>
                <a:cubicBezTo>
                  <a:pt x="525634" y="22015"/>
                  <a:pt x="282837" y="1152"/>
                  <a:pt x="0" y="13716"/>
                </a:cubicBezTo>
                <a:cubicBezTo>
                  <a:pt x="596" y="8712"/>
                  <a:pt x="320" y="342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490720" y="4777739"/>
            <a:ext cx="5173220" cy="13992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1600" dirty="0"/>
              <a:t>Flutter 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1600" dirty="0"/>
              <a:t>Firebase (Secure Cloud Sync)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1600" dirty="0"/>
              <a:t>Google ML Kit (Precision Scanning)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1600" dirty="0"/>
              <a:t>OpenAI (Smart Recipes)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1600" dirty="0"/>
              <a:t>FCM: Firebase Cloud Messaging (Timely Alerts)</a:t>
            </a:r>
            <a:br>
              <a:rPr lang="en-US" sz="900" dirty="0"/>
            </a:b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2E7D32"/>
                </a:solidFill>
              </a:defRPr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Target &amp; Future Impact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929384"/>
            <a:ext cx="78867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 dirty="0"/>
          </a:p>
          <a:p>
            <a:pPr defTabSz="914400">
              <a:lnSpc>
                <a:spcPct val="90000"/>
              </a:lnSpc>
              <a:spcAft>
                <a:spcPts val="1500"/>
              </a:spcAft>
              <a:defRPr sz="2200"/>
            </a:pPr>
            <a:r>
              <a:rPr lang="en-US" sz="1900" dirty="0"/>
              <a:t>• Primary: Busy households looking to save money.</a:t>
            </a:r>
          </a:p>
          <a:p>
            <a:pPr defTabSz="914400">
              <a:lnSpc>
                <a:spcPct val="90000"/>
              </a:lnSpc>
              <a:spcAft>
                <a:spcPts val="1500"/>
              </a:spcAft>
              <a:defRPr sz="2200"/>
            </a:pPr>
            <a:r>
              <a:rPr lang="en-US" sz="1900" dirty="0"/>
              <a:t>• Secondary: Eco-conscious users reducing carbon footprint.</a:t>
            </a:r>
          </a:p>
          <a:p>
            <a:pPr defTabSz="914400">
              <a:lnSpc>
                <a:spcPct val="90000"/>
              </a:lnSpc>
              <a:spcAft>
                <a:spcPts val="1500"/>
              </a:spcAft>
              <a:defRPr sz="2200"/>
            </a:pPr>
            <a:r>
              <a:rPr lang="en-US" sz="1900" dirty="0"/>
              <a:t>• Future: B2B partnerships with local grocery chains.</a:t>
            </a:r>
          </a:p>
          <a:p>
            <a:pPr defTabSz="914400">
              <a:lnSpc>
                <a:spcPct val="90000"/>
              </a:lnSpc>
              <a:spcAft>
                <a:spcPts val="1500"/>
              </a:spcAft>
              <a:defRPr sz="2200"/>
            </a:pPr>
            <a:r>
              <a:rPr lang="en-US" sz="1900" dirty="0"/>
              <a:t>• Goal: Reducing Finland's food waste by 10% in 3 years.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217</Words>
  <Application>Microsoft Office PowerPoint</Application>
  <PresentationFormat>On-screen Show (4:3)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prathama pandey</dc:creator>
  <cp:keywords/>
  <dc:description>generated using python-pptx</dc:description>
  <cp:lastModifiedBy>prathama pandey</cp:lastModifiedBy>
  <cp:revision>20</cp:revision>
  <dcterms:created xsi:type="dcterms:W3CDTF">2013-01-27T09:14:16Z</dcterms:created>
  <dcterms:modified xsi:type="dcterms:W3CDTF">2026-04-22T07:47:20Z</dcterms:modified>
  <cp:category/>
</cp:coreProperties>
</file>